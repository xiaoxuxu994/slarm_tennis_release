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notesMasterIdLst>
    <p:notesMasterId r:id="rId8"/>
  </p:notesMasterIdLst>
  <p:sldSz cx="12191695" cy="6858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项目不是重新发明SLARM，而是围绕接球的时间约束、小目标几何和任务读出进行系统性改造。当前主线是pixel/MS3；token分支作为探索。</a:t>
            </a:r>
          </a:p>
          <a:p>
            <a:r>
              <a:t>来源：2026-09-17 | 本地代码 4f7e46a + 工作区 | 基于 kevinchiu19/SLARM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上游已有动态GS、场景运动、流式与语言对齐能力。本项目的重点是终端外推归属、小球监督、task semantic和对象latent接口。未做上游所有版本逐行审计。</a:t>
            </a:r>
          </a:p>
          <a:p>
            <a:r>
              <a:t>来源：上游：https://github.com/kevinchiu19/SLARM | 本地 src/models/slarm.py、src/utils/stream25_losses.py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输入为六个时刻三视角RGB和标定。像素路径经过渲染、语义选球、深度反投影和状态聚合。token路径提供状态和三目1536维特征。下游DynamicVLA尚未实现验证闭环。</a:t>
            </a:r>
          </a:p>
          <a:p>
            <a:r>
              <a:t>来源：src/models/slarm.py | src/models/stream_session.py | docs/BALL_LATENT_EXPORT.md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终端及未来清除更早高斯的时间归属重叠，终端动态高斯按MS3推进。0.3秒和1秒为默认30fps窗口。frame45参考是解析弹道，不是保存的图像标注。</a:t>
            </a:r>
          </a:p>
          <a:p>
            <a:r>
              <a:t>来源：src/models/slarm.py::forward_renderer | src/models/temporal_ownership.py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球区域RGB、米制深度及尾部误差加强小球监督，球/静态MS3分开。多视角通过共享表征和渲染监督隐式约束，目前不宣称存在显式两两三视角一致性loss。</a:t>
            </a:r>
          </a:p>
          <a:p>
            <a:r>
              <a:t>来源：src/utils/stream25_losses.py | src/dataset/stream25.py::build_dense_ms3_gt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当前10k配置没有显式开启ms3_physics_override，默认关闭。物理监督与可选硬覆盖要分清。token速度scale仅为loss归一化，不是decoder缩放。learned MS3已接近重力，不应夸大硬覆盖收益。</a:t>
            </a:r>
          </a:p>
          <a:p>
            <a:r>
              <a:t>来源：stream25_losses.py | slarm.py::_apply_physics_ms3_override | stream25_metrics.py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配置online_feat=false，enable_feat_loss=false，lseg权重0，四类task semantic开启。仓库保留兼容逻辑，不是删除一切LSeg代码。没有速度/显存统一对照，不能写加速倍数。</a:t>
            </a:r>
          </a:p>
          <a:p>
            <a:r>
              <a:t>来源：configs/exp0915_001_slarm_stream25_0908_10k_pixel_finetune.yml | slarm.py::forward_task_semantic_predictor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terminal三目token已经交换信息，不是独立单目估计。pooled基线mean后共享MLP输出p/v。位置、速度、轨迹、landing监督对齐接球目标。没有证据证明当前token优于pixel或latent下游质量已达标。</a:t>
            </a:r>
          </a:p>
          <a:p>
            <a:r>
              <a:t>来源：aggregator.py | slarm.py | docs/BALL_LATENT_EXPORT.md | stream25_losses.py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valid-view mean并非GT可见性Oracle；无外部mask时依赖有限值。共享投影及LN后计算差分，末层零初始化，物理速度相加。只有新增head训练，prefix关闭。结果暂不构成精度突破。</a:t>
            </a:r>
          </a:p>
          <a:p>
            <a:r>
              <a:t>来源：src/models/ball_velocity_residual.py | configs/exp0911_010_balltoken_history_concat_deltat_diff_regularized.yml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新训练checkpoint为019999，下表已知成绩来自013999。不能从不同数据报告直接计算微调收益百分比。表面补偿关闭，catch为固定时刻解析参考。用户另报013999成功率67.5%、n=200，判据待核对，不直接列为机器人成功率。同场景checkpoint应采用配对统计，没有必须差10个百分点的通用标准。</a:t>
            </a:r>
          </a:p>
          <a:p>
            <a:r>
              <a:t>来源：用户提供的 ckpt13999 aggregate | manifest / 样本数及同场景对照待补全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旧文档的几何极限推断已被train/val差距推翻；免费滑窗推断也被offset实验挑战。004fit比较同一checkpoint。010无明显收益，不代表latent一定没有信息。</a:t>
            </a:r>
          </a:p>
          <a:p>
            <a:r>
              <a:t>来源：用户提供004读出/历史拟合结果、010训练与验证报告 | docs/EXPERIMENTS_AND_ERROR_BUDGET.md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架构图为可编辑形状，未使用伪造推理图。GS可导PLY查看几何，token可导attention投影。attention不等于因果解释。演示最终建议替换为同checkpoint、同scene、同frame的真实输出。</a:t>
            </a:r>
          </a:p>
          <a:p>
            <a:r>
              <a:t>来源：tools/verify_physics_extrapolation.py | scripts/visualize_ball_tokens.py | tools/export_gaussian_sequence.py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固定同场景比较旧模型和13999。随机offset0至3，保持timespan0.8，同步target及GT。25帧限制未来监督，offset3只剩0.2秒；要0.3秒需数据至少到27。DynamicVLA尚无已验证融合结果。</a:t>
            </a:r>
          </a:p>
          <a:p>
            <a:r>
              <a:t>来源：docs/RANDOM_WINDOW_FINETUNE_codex.md（方案未实现） | docs/BALL_LATENT_EXPORT.md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所有数值来自项目文档及用户贴出的报告。配套MD列出完整文件路径和实验边界。上游归属SLARM。没有本地GPU实测、机器人闭环、下游action收益或统一性能benchmark。</a:t>
            </a:r>
          </a:p>
          <a:p>
            <a:r>
              <a:t>来源：docs/TENNIS_PROJECT_REPORT_codex.md | tools/build_tennis_project_report.py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SLARM / TENNIS CATCHING / 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从动态重建到网球接球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三视角因果感知 · 物理运动外推 · 对象级 latent 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2026-09-17 | 本地代码 4f7e46a + 工作区 | 基于 kevinchiu19/SLARM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68880"/>
            <a:ext cx="351129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68880"/>
            <a:ext cx="36576" cy="19659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5968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01  看清球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63240"/>
            <a:ext cx="3182112" cy="13441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三视角几何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球区域专用监督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468880"/>
            <a:ext cx="351129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468880"/>
            <a:ext cx="36576" cy="1965960"/>
          </a:xfrm>
          <a:prstGeom prst="rect">
            <a:avLst/>
          </a:prstGeom>
          <a:solidFill>
            <a:srgbClr val="31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25968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16DA0"/>
                </a:solidFill>
                <a:latin typeface="Microsoft YaHei"/>
              </a:defRPr>
            </a:pPr>
            <a:r>
              <a:rPr>
                <a:ea typeface="Microsoft YaHei"/>
              </a:rPr>
              <a:t>02  预测未来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3063240"/>
            <a:ext cx="3182112" cy="13441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终端高斯外推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物理单位与坐标统一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2468880"/>
            <a:ext cx="3511296" cy="1965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2468880"/>
            <a:ext cx="36576" cy="1965960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5968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C75849"/>
                </a:solidFill>
                <a:latin typeface="Microsoft YaHei"/>
              </a:defRPr>
            </a:pPr>
            <a:r>
              <a:rPr>
                <a:ea typeface="Microsoft YaHei"/>
              </a:rPr>
              <a:t>03  输出可用表征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3063240"/>
            <a:ext cx="3182112" cy="13441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显式球状态 + 对象 latent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面向下游策略接口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核心定位：在开源世界模型之上，构建可验证的接球感知与预测链路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01 / CONTRIBUTION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继承基础能力，新增任务闭环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将项目贡献与上游能力分开，避免把工程实现表述为未经证实的学术首创。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上游：https://github.com/kevinchiu19/SLARM | 本地 src/models/slarm.py、src/utils/stream25_losses.py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274320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67712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上游基础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148840"/>
            <a:ext cx="594360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2267712"/>
            <a:ext cx="57241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本项目改造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89720" y="2148840"/>
            <a:ext cx="237744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99448" y="2267712"/>
            <a:ext cx="21579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证据状态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24912"/>
            <a:ext cx="27432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843784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动态 GS / 运动预测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724912"/>
            <a:ext cx="59436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2843784"/>
            <a:ext cx="57241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终端动态高斯承担未来外推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2724912"/>
            <a:ext cx="23774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843784"/>
            <a:ext cx="21579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已实现 / 启用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00984"/>
            <a:ext cx="27432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419856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重建与语义学习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300984"/>
            <a:ext cx="59436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3419856"/>
            <a:ext cx="57241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球区域几何 + 物理监督；关闭LSeg监督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89720" y="3300984"/>
            <a:ext cx="237744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99448" y="3419856"/>
            <a:ext cx="21579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已实现 / 启用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77056"/>
            <a:ext cx="27432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995928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流式多视角 latent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877056"/>
            <a:ext cx="59436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5848" y="3995928"/>
            <a:ext cx="57241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in-trunk ball token + 状态/特征接口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9720" y="3877056"/>
            <a:ext cx="23774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99448" y="3995928"/>
            <a:ext cx="21579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已实现 / 探索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53128"/>
            <a:ext cx="27432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572000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通用重建指标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46120" y="4453128"/>
            <a:ext cx="59436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55848" y="4572000"/>
            <a:ext cx="57241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固定接球时刻误差 + 多因素消融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89720" y="4453128"/>
            <a:ext cx="237744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99448" y="4572000"/>
            <a:ext cx="21579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已实现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贡献是任务化机制与验证体系，不是重新提出 GS 或流式 Transformer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02 /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两条读出路径，共享因果视觉主干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当前 10k 主线使用 pixel/MS3；ball-token 是可选分支，不是默认同时启用。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src/models/slarm.py | src/models/stream_session.py | docs/BALL_LATENT_EXPORT.md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23160"/>
            <a:ext cx="22860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423160"/>
            <a:ext cx="36576" cy="155448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551176"/>
            <a:ext cx="19568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三视角 × 六时刻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017520"/>
            <a:ext cx="1956816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RGB + 相机标定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0/3/6/9/12/15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862072" y="3063240"/>
            <a:ext cx="411480" cy="246888"/>
          </a:xfrm>
          <a:prstGeom prst="rightArrow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423160"/>
            <a:ext cx="274320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83280" y="2423160"/>
            <a:ext cx="36576" cy="1554480"/>
          </a:xfrm>
          <a:prstGeom prst="rect">
            <a:avLst/>
          </a:prstGeom>
          <a:solidFill>
            <a:srgbClr val="31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47872" y="2551176"/>
            <a:ext cx="24140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16DA0"/>
                </a:solidFill>
                <a:latin typeface="Microsoft YaHei"/>
              </a:defRPr>
            </a:pPr>
            <a:r>
              <a:rPr>
                <a:ea typeface="Microsoft YaHei"/>
              </a:rPr>
              <a:t>SLARM 流式主干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7872" y="3017520"/>
            <a:ext cx="2414016" cy="93268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patch + 几何/时间编码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多视角与历史聚合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217920" y="3063240"/>
            <a:ext cx="411480" cy="246888"/>
          </a:xfrm>
          <a:prstGeom prst="rightArrow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2148840"/>
            <a:ext cx="47548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2148840"/>
            <a:ext cx="36576" cy="12801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276856"/>
            <a:ext cx="442569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主线：Pixel / Gaussian / MS3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743200"/>
            <a:ext cx="4425696" cy="6583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未来渲染 → 选球反投影 → 状态 → 接球点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12280" y="3685032"/>
            <a:ext cx="475488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12280" y="3685032"/>
            <a:ext cx="36576" cy="1280160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3813048"/>
            <a:ext cx="442569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C75849"/>
                </a:solidFill>
                <a:latin typeface="Microsoft YaHei"/>
              </a:defRPr>
            </a:pPr>
            <a:r>
              <a:rPr>
                <a:ea typeface="Microsoft YaHei"/>
              </a:rPr>
              <a:t>探索：Ball Token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279392"/>
            <a:ext cx="4425696" cy="6583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3 × 1536 latent → p / v；策略接口待验证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同时保留可解释几何读出与紧凑对象表征，但分别评估其价值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03 / CAUSAL EXTRAPOLATION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让最后一次观测承担未来预测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terminal_context_extrapolation：明确终端及后续目标的高斯时间归属。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src/models/slarm.py::forward_renderer | src/models/temporal_ownership.py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351129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36576" cy="15087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41401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因果观测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80360"/>
            <a:ext cx="3182112" cy="8869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frame0 → frame15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只使用已经到达的图像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286000"/>
            <a:ext cx="351129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286000"/>
            <a:ext cx="36576" cy="1508760"/>
          </a:xfrm>
          <a:prstGeom prst="rect">
            <a:avLst/>
          </a:prstGeom>
          <a:solidFill>
            <a:srgbClr val="31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241401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16DA0"/>
                </a:solidFill>
                <a:latin typeface="Microsoft YaHei"/>
              </a:defRPr>
            </a:pPr>
            <a:r>
              <a:rPr>
                <a:ea typeface="Microsoft YaHei"/>
              </a:rPr>
              <a:t>短时预测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880360"/>
            <a:ext cx="3182112" cy="8869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frame15 → frame24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0.3 s；有图像/轨迹标注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2286000"/>
            <a:ext cx="3511296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2286000"/>
            <a:ext cx="36576" cy="1508760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41401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C75849"/>
                </a:solidFill>
                <a:latin typeface="Microsoft YaHei"/>
              </a:defRPr>
            </a:pPr>
            <a:r>
              <a:rPr>
                <a:ea typeface="Microsoft YaHei"/>
              </a:rPr>
              <a:t>接球时刻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880360"/>
            <a:ext cx="3182112" cy="8869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frame15 → frame45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1.0 s；解析状态参考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251960"/>
            <a:ext cx="1069848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5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p(t+dt) = p(t) + v dt + 0.5 a dt^2 + (1/6) j dt^3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关键改造：从已观测时刻重建，走向受因果约束的任务时刻预测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04 / SMALL-OBJECT SUPERVISION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全图重建之外，单独照顾网球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背景占据绝大多数像素；全图 RGB 好看，并不保证小球几何与速度准确。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src/utils/stream25_losses.py | src/dataset/stream25.py::build_dense_ms3_gt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351129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36576" cy="18288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682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全局重建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34640"/>
            <a:ext cx="3182112" cy="12070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RGB + LPIPS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相对深度 / 语义 / opacity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240280"/>
            <a:ext cx="351129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240280"/>
            <a:ext cx="36576" cy="1828800"/>
          </a:xfrm>
          <a:prstGeom prst="rect">
            <a:avLst/>
          </a:prstGeom>
          <a:solidFill>
            <a:srgbClr val="31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23682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16DA0"/>
                </a:solidFill>
                <a:latin typeface="Microsoft YaHei"/>
              </a:defRPr>
            </a:pPr>
            <a:r>
              <a:rPr>
                <a:ea typeface="Microsoft YaHei"/>
              </a:rPr>
              <a:t>球局部几何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834640"/>
            <a:ext cx="3182112" cy="12070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球区域 RGB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米制深度：均值 + 误差尾部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2240280"/>
            <a:ext cx="3511296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2240280"/>
            <a:ext cx="36576" cy="1828800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3682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C75849"/>
                </a:solidFill>
                <a:latin typeface="Microsoft YaHei"/>
              </a:defRPr>
            </a:pPr>
            <a:r>
              <a:rPr>
                <a:ea typeface="Microsoft YaHei"/>
              </a:rPr>
              <a:t>运动与静态分离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834640"/>
            <a:ext cx="3182112" cy="12070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球：v / a / j 监督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静态：独立采样与零运动约束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572000"/>
            <a:ext cx="1078992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三视角共享表示与渲染提供隐式约束；不是新增的显式两两一致性 loss。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设计目标：避免大面积背景损失掩盖少像素网球的误差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05 / PHYSICS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物理先验分三层，不能混为一谈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统一物理单位、坐标变换和参考时刻，比单纯增大一个 loss 更重要。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stream25_losses.py | slarm.py::_apply_physics_ms3_override | stream25_metrics.py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192024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67712"/>
            <a:ext cx="17007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层次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48840"/>
            <a:ext cx="621792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32888" y="2267712"/>
            <a:ext cx="599846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148840"/>
            <a:ext cx="292608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50807" y="2267712"/>
            <a:ext cx="270662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当前状态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24912"/>
            <a:ext cx="1920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843784"/>
            <a:ext cx="17007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训练监督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2724912"/>
            <a:ext cx="62179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32888" y="2843784"/>
            <a:ext cx="599846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球 MS3 GT：速度 / 重力 / 零 jerk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41080" y="2724912"/>
            <a:ext cx="2926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0807" y="2843784"/>
            <a:ext cx="270662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pixel 主线启用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00984"/>
            <a:ext cx="192024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419856"/>
            <a:ext cx="17007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解析状态推进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00984"/>
            <a:ext cx="621792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32888" y="3419856"/>
            <a:ext cx="599846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ball-token 轨迹 / catch 使用已知重力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1080" y="3300984"/>
            <a:ext cx="292608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50807" y="3419856"/>
            <a:ext cx="270662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token 分支按配置启用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77056"/>
            <a:ext cx="19202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995928"/>
            <a:ext cx="17007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可选硬约束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3877056"/>
            <a:ext cx="62179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32888" y="3995928"/>
            <a:ext cx="599846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动态 a=g、j=0 的 physics override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41080" y="3877056"/>
            <a:ext cx="292608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50807" y="3995928"/>
            <a:ext cx="270662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10k 配置未显式启用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53128"/>
            <a:ext cx="192024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572000"/>
            <a:ext cx="17007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单位契约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4453128"/>
            <a:ext cx="621792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32888" y="4572000"/>
            <a:ext cx="599846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状态 m、m/s；时间秒；canonical → rig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1080" y="4453128"/>
            <a:ext cx="292608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50807" y="4572000"/>
            <a:ext cx="270662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全链路检查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物理模型减少不必要自由度；精度仍依赖位置与速度的感知泛化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06 / TASK SEMANTICS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关闭 LSeg 特征监督，保留任务语义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从通用语言对齐转为封闭接球场景所需的语义输出。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configs/exp0915_001_slarm_stream25_0908_10k_pixel_finetune.yml | slarm.py::forward_task_semantic_predictor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51663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36576" cy="1920240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414016"/>
            <a:ext cx="483717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C75849"/>
                </a:solidFill>
                <a:latin typeface="Microsoft YaHei"/>
              </a:defRPr>
            </a:pPr>
            <a:r>
              <a:rPr>
                <a:ea typeface="Microsoft YaHei"/>
              </a:rPr>
              <a:t>关闭的部分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80360"/>
            <a:ext cx="4837176" cy="1298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在线 LSeg 特征监督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语言特征蒸馏损失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51663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286000"/>
            <a:ext cx="36576" cy="192024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2414016"/>
            <a:ext cx="483717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保留 / 新增的部分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880360"/>
            <a:ext cx="4837176" cy="12984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四类 task semantic + 渲染监督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预测球语义 → 像素路径选球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806440" y="3063240"/>
            <a:ext cx="411480" cy="246888"/>
          </a:xfrm>
          <a:prstGeom prst="rightArrow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599432"/>
            <a:ext cx="1060704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取舍：减少任务不需要的监督依赖；不再宣称原样保留开放词汇能力。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这是任务化简化；目前不报告未经测量的推理加速或显存下降比例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07 / OBJECT-CENTRIC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Ball Token：从像素场到对象状态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in-trunk token 参与主干 attention，提供显式 p/v 与三目 latent 两类接口。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aggregator.py | slarm.py | docs/BALL_LATENT_EXPORT.md | stream25_losses.py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30632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36576" cy="16002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414016"/>
            <a:ext cx="273405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In-trunk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80360"/>
            <a:ext cx="2734056" cy="9784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与 image patches 联合聚合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终端输出 [B,3,1536]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675887" y="2926080"/>
            <a:ext cx="411480" cy="246888"/>
          </a:xfrm>
          <a:prstGeom prst="rightArrow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2286000"/>
            <a:ext cx="30632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2286000"/>
            <a:ext cx="36576" cy="1600200"/>
          </a:xfrm>
          <a:prstGeom prst="rect">
            <a:avLst/>
          </a:prstGeom>
          <a:solidFill>
            <a:srgbClr val="31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1" y="2414016"/>
            <a:ext cx="273405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16DA0"/>
                </a:solidFill>
                <a:latin typeface="Microsoft YaHei"/>
              </a:defRPr>
            </a:pPr>
            <a:r>
              <a:rPr>
                <a:ea typeface="Microsoft YaHei"/>
              </a:rPr>
              <a:t>状态读出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1" y="2880360"/>
            <a:ext cx="2734056" cy="9784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三目 mean → 共享 MLP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p15、v15（物理单位）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79208" y="2926080"/>
            <a:ext cx="411480" cy="246888"/>
          </a:xfrm>
          <a:prstGeom prst="rightArrow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09560" y="2286000"/>
            <a:ext cx="36576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09560" y="2286000"/>
            <a:ext cx="36576" cy="1600200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414016"/>
            <a:ext cx="332841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C75849"/>
                </a:solidFill>
                <a:latin typeface="Microsoft YaHei"/>
              </a:defRPr>
            </a:pPr>
            <a:r>
              <a:rPr>
                <a:ea typeface="Microsoft YaHei"/>
              </a:rPr>
              <a:t>任务监督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74152" y="2880360"/>
            <a:ext cx="3328416" cy="97840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位置 + 速度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轨迹 + 固定时刻接球点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62272"/>
            <a:ext cx="10698480" cy="7315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三目 latent 可单独导出 → 下游 adapter / DynamicVLA</a:t>
            </a:r>
          </a:p>
          <a:p>
            <a:pPr>
              <a:spcAft>
                <a:spcPts val="800"/>
              </a:spcAft>
              <a:defRPr sz="20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接口已具备；融合位置、策略收益与特征质量尚待验证。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已实现的表征接口，不等于已证明优于像素路径的精度方案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08 / CONTROLLED MOTION PROBE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冻结基线，只学习历史速度修正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006–010：从原 ball-token baseline007999 初始化，不叠加004 temporal-joint head。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src/models/ball_velocity_residual.py | configs/exp0911_010_balltoken_history_concat_deltat_diff_regularized.yml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3035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36576" cy="15087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68296"/>
            <a:ext cx="497433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六帧历史输入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34640"/>
            <a:ext cx="4974336" cy="8869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valid-view mean → 共享1536→256 → LN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[h_t, h_terminal−h_t, Δt秒, valid]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240280"/>
            <a:ext cx="530352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240280"/>
            <a:ext cx="36576" cy="1508760"/>
          </a:xfrm>
          <a:prstGeom prst="rect">
            <a:avLst/>
          </a:prstGeom>
          <a:solidFill>
            <a:srgbClr val="31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1" y="2368296"/>
            <a:ext cx="4974336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16DA0"/>
                </a:solidFill>
                <a:latin typeface="Microsoft YaHei"/>
              </a:defRPr>
            </a:pPr>
            <a:r>
              <a:rPr>
                <a:ea typeface="Microsoft YaHei"/>
              </a:rPr>
              <a:t>低自由度残差读出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1" y="2834640"/>
            <a:ext cx="4974336" cy="8869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concat 3084 → 512 → 256 → 3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v_final = stopgrad(v_base) + Δv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114800"/>
            <a:ext cx="1078992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零初始化  /  baseline冻结  /  不加prefix监督  /  轻微Δv正则</a:t>
            </a:r>
          </a:p>
          <a:p>
            <a:pPr>
              <a:spcAft>
                <a:spcPts val="800"/>
              </a:spcAft>
              <a:defRPr sz="20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010验证速度约0.101/0.268 m/s，与baseline接近，尚无稳定收益。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价值：可控地验证历史 latent 的可读性；结论：暂不作为主模型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09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当前候选：接球时刻中位误差 7.0 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最新训练：019999（待评测）；下表仍为013999 / offset=0，不混用权重与成绩。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用户提供的 ckpt13999 aggregate | manifest / 样本数及同场景对照待补全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301752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67712"/>
            <a:ext cx="27980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指标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0439" y="2148840"/>
            <a:ext cx="182880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0168" y="2267712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Median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49240" y="2148840"/>
            <a:ext cx="182880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58968" y="2267712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P95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148840"/>
            <a:ext cx="438912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87768" y="2267712"/>
            <a:ext cx="41696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解释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24912"/>
            <a:ext cx="3017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2843784"/>
            <a:ext cx="27980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frame24 position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39" y="2724912"/>
            <a:ext cx="18288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30168" y="2843784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4.1 cm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724912"/>
            <a:ext cx="18288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58968" y="2843784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11.2 cm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78040" y="2724912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87768" y="2843784"/>
            <a:ext cx="41696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短时预测，历史表面口径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3300984"/>
            <a:ext cx="301752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3419856"/>
            <a:ext cx="27980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catch position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20439" y="3300984"/>
            <a:ext cx="18288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0168" y="3419856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7.0 cm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49240" y="3300984"/>
            <a:ext cx="18288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58968" y="3419856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17.4 cm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3300984"/>
            <a:ext cx="438912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87768" y="3419856"/>
            <a:ext cx="41696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固定接球时刻，约1秒外推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877056"/>
            <a:ext cx="30175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3995928"/>
            <a:ext cx="27980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ball MS3 velocity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39" y="3877056"/>
            <a:ext cx="18288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0168" y="3995928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0.067 m/s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49240" y="3877056"/>
            <a:ext cx="18288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58968" y="3995928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0.185 m/s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78040" y="3877056"/>
            <a:ext cx="438912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87768" y="3995928"/>
            <a:ext cx="41696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球区域运动场指标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453128"/>
            <a:ext cx="301752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2648" y="4572000"/>
            <a:ext cx="27980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ball depth farthest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20439" y="4453128"/>
            <a:ext cx="18288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30168" y="4572000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2.2 cm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49240" y="4453128"/>
            <a:ext cx="18288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58968" y="4572000"/>
            <a:ext cx="16093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3.8 cm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78040" y="4453128"/>
            <a:ext cx="438912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87768" y="4572000"/>
            <a:ext cx="4169663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球区域深度误差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可以报告候选精度；不能将其直接换算为机器人成功率或同分布提升比例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10 / ABLATIONS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负结果让下一步更明确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不是模块越多越好：优先保留已验证的主路径，停止无收益叠加。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用户提供004读出/历史拟合结果、010训练与验证报告 | docs/EXPERIMENTS_AND_ERROR_BUDGET.md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283464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67712"/>
            <a:ext cx="26151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验证方向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148840"/>
            <a:ext cx="548640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267712"/>
            <a:ext cx="52669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观察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23960" y="2148840"/>
            <a:ext cx="2743200" cy="57607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3688" y="2267712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决策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24912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2843784"/>
            <a:ext cx="26151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逐目位置再平均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2724912"/>
            <a:ext cx="54864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47288" y="2843784"/>
            <a:ext cx="52669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多数场景没有胜过 feature mean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23960" y="2724912"/>
            <a:ext cx="27432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3688" y="2843784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保留原读出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300984"/>
            <a:ext cx="283464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419856"/>
            <a:ext cx="26151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004历史位置拟合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300984"/>
            <a:ext cx="54864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3419856"/>
            <a:ext cx="52669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速度中位0.1074 → 0.1465 m/s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23960" y="3300984"/>
            <a:ext cx="27432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33688" y="3419856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不替换速度头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877056"/>
            <a:ext cx="283464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995928"/>
            <a:ext cx="26151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冻结历史残差010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7560" y="3877056"/>
            <a:ext cx="54864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3995928"/>
            <a:ext cx="52669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修正小，验证速度接近baseline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823960" y="3877056"/>
            <a:ext cx="274320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33688" y="3995928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暂不升级主模型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453128"/>
            <a:ext cx="283464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572000"/>
            <a:ext cx="261518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直接平移窗口+3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37560" y="4453128"/>
            <a:ext cx="54864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447288" y="4572000"/>
            <a:ext cx="52669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catch中位0.665 m；配对待确认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23960" y="4453128"/>
            <a:ext cx="2743200" cy="57607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33688" y="4572000"/>
            <a:ext cx="2523744" cy="44805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排查时间 / 窗口泛化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不再宣称已经达到几何极限，也不宣称后移观测能免费提升精度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11 / EVALUATION &amp;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从好看的重建，走向可追溯的任务评价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误差分解与可视化各司其职：前者决定结论，后者帮助解释。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tools/verify_physics_extrapolation.py | scripts/visualize_ball_tokens.py | tools/export_gaussian_sequence.py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3511296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40280"/>
            <a:ext cx="36576" cy="219456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3682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误差诊断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834640"/>
            <a:ext cx="3182112" cy="15727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pixel / token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free / gravity / linear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视线 / 横向 / 逐轴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9392" y="2240280"/>
            <a:ext cx="3511296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9392" y="2240280"/>
            <a:ext cx="36576" cy="2194560"/>
          </a:xfrm>
          <a:prstGeom prst="rect">
            <a:avLst/>
          </a:prstGeom>
          <a:solidFill>
            <a:srgbClr val="316D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43983" y="23682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316DA0"/>
                </a:solidFill>
                <a:latin typeface="Microsoft YaHei"/>
              </a:defRPr>
            </a:pPr>
            <a:r>
              <a:rPr>
                <a:ea typeface="Microsoft YaHei"/>
              </a:rPr>
              <a:t>GS 可视化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43983" y="2834640"/>
            <a:ext cx="3182112" cy="15727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动态渲染视频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逐帧 Gaussian PLY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球预测轨迹与 GT 对照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5864" y="2240280"/>
            <a:ext cx="3511296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2240280"/>
            <a:ext cx="36576" cy="2194560"/>
          </a:xfrm>
          <a:prstGeom prst="rect">
            <a:avLst/>
          </a:prstGeom>
          <a:solidFill>
            <a:srgbClr val="C75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0456" y="2368296"/>
            <a:ext cx="3182112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C75849"/>
                </a:solidFill>
                <a:latin typeface="Microsoft YaHei"/>
              </a:defRPr>
            </a:pPr>
            <a:r>
              <a:rPr>
                <a:ea typeface="Microsoft YaHei"/>
              </a:rPr>
              <a:t>Token 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2834640"/>
            <a:ext cx="3182112" cy="157276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attention 投影到图像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状态轨迹与速度残差</a:t>
            </a:r>
          </a:p>
          <a:p>
            <a:pPr>
              <a:spcAft>
                <a:spcPts val="800"/>
              </a:spcAft>
              <a:defRPr sz="16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latent 导出与探针评估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评估需标记：缺样本、球面补偿、预测时间、坐标系与 checkpoint 来源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12 /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下一步：先解决泛化，再验证策略价值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不把新增模块当作进步；每一步都对应可检验的问题。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docs/RANDOM_WINDOW_FINETUNE_codex.md（方案未实现） | docs/BALL_LATENT_EXPORT.md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94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48840"/>
            <a:ext cx="9966960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补齐同场景对照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542032"/>
            <a:ext cx="996696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旧模型 vs 13999；记录 catch p95、距离 hit rate 与延迟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594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9966960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验证窗口泛化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47872"/>
            <a:ext cx="996696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同帧MS3检查 → 随机offset0/1/2/3；保留offset0表现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60520"/>
            <a:ext cx="59436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160520"/>
            <a:ext cx="9966960" cy="3291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验证 latent 与控制价值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553712"/>
            <a:ext cx="996696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冻结特征探针 → DynamicVLA adapter → 机器人闭环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项目产出：可预测、可解释、可验证的接球感知基础，而非已完成的策略闭环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APPENDIX / 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1155680" cy="62179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代码、配置与证据索引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72184"/>
            <a:ext cx="110642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详细边界、指标表与一分钟汇报稿见配套 Markdown；每页附有讲稿备注。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27648"/>
            <a:ext cx="11064240" cy="13716"/>
          </a:xfrm>
          <a:prstGeom prst="rect">
            <a:avLst/>
          </a:prstGeom>
          <a:solidFill>
            <a:srgbClr val="CB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55664"/>
            <a:ext cx="10561320" cy="23774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596970"/>
                </a:solidFill>
                <a:latin typeface="Microsoft YaHei"/>
              </a:defRPr>
            </a:pPr>
            <a:r>
              <a:rPr>
                <a:ea typeface="Microsoft YaHei"/>
              </a:rPr>
              <a:t>docs/TENNIS_PROJECT_REPORT_codex.md | tools/build_tennis_project_report.py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37392" y="6419088"/>
            <a:ext cx="59436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87F78"/>
                </a:solidFill>
                <a:latin typeface="Microsoft YaHei"/>
              </a:defRPr>
            </a:pPr>
            <a:r>
              <a:rPr>
                <a:ea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48840"/>
            <a:ext cx="2834640" cy="53035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267712"/>
            <a:ext cx="261518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内容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148840"/>
            <a:ext cx="8229600" cy="530352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267712"/>
            <a:ext cx="801014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定位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79192"/>
            <a:ext cx="28346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798064"/>
            <a:ext cx="261518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开源基础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2679192"/>
            <a:ext cx="8229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2798064"/>
            <a:ext cx="801014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https://github.com/kevinchiu19/SLARM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209544"/>
            <a:ext cx="2834640" cy="53035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" y="3328415"/>
            <a:ext cx="261518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当前 pixel 配置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209544"/>
            <a:ext cx="8229600" cy="53035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47288" y="3328415"/>
            <a:ext cx="801014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exp0915_001_slarm_stream25_0908_10k_pixel_finetune.yml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39896"/>
            <a:ext cx="28346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858768"/>
            <a:ext cx="261518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对象基线 / 残差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37560" y="3739896"/>
            <a:ext cx="8229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3858768"/>
            <a:ext cx="801014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exp0908_003 / exp0911_010 对应 configs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70248"/>
            <a:ext cx="2834640" cy="53035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389120"/>
            <a:ext cx="261518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核心实现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37560" y="4270248"/>
            <a:ext cx="8229600" cy="530352"/>
          </a:xfrm>
          <a:prstGeom prst="rect">
            <a:avLst/>
          </a:prstGeom>
          <a:solidFill>
            <a:srgbClr val="EA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47288" y="4389120"/>
            <a:ext cx="801014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slarm.py / stream25_losses.py / ball_velocity_residual.py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800600"/>
            <a:ext cx="283464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" y="4919472"/>
            <a:ext cx="261518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实验与接口说明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4800600"/>
            <a:ext cx="82296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7288" y="4919472"/>
            <a:ext cx="8010144" cy="402335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0282D"/>
                </a:solidFill>
                <a:latin typeface="Microsoft YaHei"/>
              </a:defRPr>
            </a:pPr>
            <a:r>
              <a:rPr>
                <a:ea typeface="Microsoft YaHei"/>
              </a:rPr>
              <a:t>EXPERIMENTS_AND_ERROR_BUDGET.md / BALL_LATENT_EXPORT.md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623560"/>
            <a:ext cx="11064240" cy="475488"/>
          </a:xfrm>
          <a:prstGeom prst="rect">
            <a:avLst/>
          </a:prstGeom>
          <a:solidFill>
            <a:srgbClr val="087F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715000"/>
            <a:ext cx="1069848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rPr>
                <a:ea typeface="Microsoft YaHei"/>
              </a:rPr>
              <a:t>可用于最终汇报；有条件的结果与未完成的验证均已明确标记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从动态重建到网球接球：SLARM项目汇报</dc:title>
  <dc:subject>Task-specific algorithm adaptations, evidence and limitations</dc:subject>
  <dc:creator>SLARM Tennis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